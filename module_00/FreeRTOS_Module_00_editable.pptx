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_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_10.png"/><Relationship Id="rId3" Type="http://schemas.openxmlformats.org/officeDocument/2006/relationships/image" Target="../media/image15_14.png"/><Relationship Id="rId4" Type="http://schemas.openxmlformats.org/officeDocument/2006/relationships/image" Target="../media/image15_18.png"/><Relationship Id="rId5" Type="http://schemas.openxmlformats.org/officeDocument/2006/relationships/image" Target="../media/image15_22.png"/><Relationship Id="rId6" Type="http://schemas.openxmlformats.org/officeDocument/2006/relationships/image" Target="../media/image15_26.png"/><Relationship Id="rId7" Type="http://schemas.openxmlformats.org/officeDocument/2006/relationships/image" Target="../media/image15_30.png"/><Relationship Id="rId8" Type="http://schemas.openxmlformats.org/officeDocument/2006/relationships/image" Target="../media/image15_34.png"/><Relationship Id="rId9" Type="http://schemas.openxmlformats.org/officeDocument/2006/relationships/image" Target="../media/image15_38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_10.jpe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FreeRTOS Lecture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Module 00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493776" y="4828032"/>
            <a:ext cx="58521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>
                <a:solidFill>
                  <a:srgbClr val="DBE5FF"/>
                </a:solidFill>
              </a:rPr>
              <a:t>Course baseline: NUCLEO-F439ZI, STM32CubeIDE, FreeRTOS kernel, CMSIS-RTOS V2 reading path</a:t>
            </a:r>
            <a:endParaRPr lang="en-US" sz="1500"/>
          </a:p>
        </p:txBody>
      </p:sp>
      <p:sp>
        <p:nvSpPr>
          <p:cNvPr id="7" name="Shape 7"/>
          <p:cNvSpPr/>
          <p:nvPr/>
        </p:nvSpPr>
        <p:spPr>
          <a:xfrm>
            <a:off x="6812280" y="1143000"/>
            <a:ext cx="4526280" cy="4069080"/>
          </a:xfrm>
          <a:prstGeom prst="roundRect">
            <a:avLst/>
          </a:prstGeom>
          <a:solidFill>
            <a:srgbClr val="3D6684"/>
          </a:solidFill>
          <a:ln w="952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7059168" y="1536192"/>
            <a:ext cx="3977639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FFFFFF"/>
                </a:solidFill>
              </a:rPr>
              <a:t>FreeRTOS</a:t>
            </a:r>
            <a:endParaRPr 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7059168" y="2148840"/>
            <a:ext cx="3977639" cy="2468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>
                <a:solidFill>
                  <a:srgbClr val="FFFFFF"/>
                </a:solidFill>
              </a:rPr>
              <a:t>Module role</a:t>
            </a:r>
            <a:endParaRPr lang="en-US" sz="1500"/>
          </a:p>
          <a:p>
            <a:pPr>
              <a:buChar char="•"/>
              <a:marL val="285750"/>
              <a:indent val="-171450"/>
            </a:pPr>
            <a:r>
              <a:rPr lang="en-US" sz="1500" dirty="0">
                <a:solidFill>
                  <a:srgbClr val="FFFFFF"/>
                </a:solidFill>
              </a:rPr>
              <a:t>Real-time vocabulary before API details</a:t>
            </a:r>
            <a:endParaRPr lang="en-US" sz="1500"/>
          </a:p>
          <a:p>
            <a:pPr>
              <a:buChar char="•"/>
              <a:marL val="285750"/>
              <a:indent val="-171450"/>
            </a:pPr>
            <a:r>
              <a:rPr lang="en-US" sz="1500" dirty="0">
                <a:solidFill>
                  <a:srgbClr val="FFFFFF"/>
                </a:solidFill>
              </a:rPr>
              <a:t>FreeRTOS identity, history, and ecosystem</a:t>
            </a:r>
            <a:endParaRPr lang="en-US" sz="1500"/>
          </a:p>
          <a:p>
            <a:pPr>
              <a:buChar char="•"/>
              <a:marL val="285750"/>
              <a:indent val="-171450"/>
            </a:pPr>
            <a:r>
              <a:rPr lang="en-US" sz="1500" dirty="0">
                <a:solidFill>
                  <a:srgbClr val="FFFFFF"/>
                </a:solidFill>
              </a:rPr>
              <a:t>Why an RTOS changes firmware structure</a:t>
            </a:r>
            <a:endParaRPr lang="en-US" sz="1500"/>
          </a:p>
          <a:p>
            <a:pPr>
              <a:buChar char="•"/>
              <a:marL val="285750"/>
              <a:indent val="-171450"/>
            </a:pPr>
            <a:r>
              <a:rPr lang="en-US" sz="1500" dirty="0">
                <a:solidFill>
                  <a:srgbClr val="FFFFFF"/>
                </a:solidFill>
              </a:rPr>
              <a:t>Bridge into Module 01 project boundaries</a:t>
            </a:r>
            <a:endParaRPr lang="en-US" sz="1500"/>
          </a:p>
        </p:txBody>
      </p:sp>
      <p:sp>
        <p:nvSpPr>
          <p:cNvPr id="10" name="TextBox 10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 / 22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Orientation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Before Module 01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Position of Module 00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The existing course already has a strong project and API path. This module supplies the conceptual base that makes the rest easier to read.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3575304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3575304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3355848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Concept layer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RTOS meaning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Real-time timing language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Multitasking on a single core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Kernel feature map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105656" y="1901952"/>
            <a:ext cx="3575304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105656" y="1901952"/>
            <a:ext cx="3575304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4215384" y="2048256"/>
            <a:ext cx="3355848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FreeRTOS layer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Kernel and modular libraries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Task terminology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MIT license and ecosystem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OpenRTOS and SafeRTOS family context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7827264" y="1901952"/>
            <a:ext cx="3575304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7827264" y="1901952"/>
            <a:ext cx="3575304" cy="54864"/>
          </a:xfrm>
          <a:prstGeom prst="rect">
            <a:avLst/>
          </a:prstGeom>
          <a:solidFill>
            <a:srgbClr val="2F7D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936992" y="2048256"/>
            <a:ext cx="3355848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Course layer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NUCLEO-F439ZI baseline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STM32CubeIDE environment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Self Lab entry point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Module 01 project tree bridge</a:t>
            </a:r>
            <a:endParaRPr lang="en-US" sz="1400"/>
          </a:p>
        </p:txBody>
      </p:sp>
      <p:sp>
        <p:nvSpPr>
          <p:cNvPr id="17" name="TextBox 17"/>
          <p:cNvSpPr txBox="1"/>
          <p:nvPr/>
        </p:nvSpPr>
        <p:spPr>
          <a:xfrm>
            <a:off x="384048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515A6B"/>
                </a:solidFill>
              </a:rPr>
              <a:t>This module prevents project structure from becoming the first explanation of an RTOS.</a:t>
            </a:r>
            <a:endParaRPr lang="en-US" sz="1050"/>
          </a:p>
        </p:txBody>
      </p:sp>
      <p:sp>
        <p:nvSpPr>
          <p:cNvPr id="18" name="TextBox 18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2 / 22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Firmware Baseline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Super loop and interrupts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Embedded Firmware Before an RTOS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A small embedded program often begins as one control loop plus a few interrupt handlers.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5436108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int main(void) { board_init(); while (1) { read_sensors(); update_control(); service_uart(); refresh_outputs(); check_buttons(); } }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966460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9A6A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076188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What works at first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Low overhead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Direct execution order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Simple debug path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No scheduler configuration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Slow calls delay unrelated work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Timing dependencies become hidden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Polling wastes CPU time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ISR code can grow too much</a:t>
            </a:r>
            <a:endParaRPr lang="en-US" sz="1400"/>
          </a:p>
        </p:txBody>
      </p:sp>
      <p:sp>
        <p:nvSpPr>
          <p:cNvPr id="14" name="TextBox 14"/>
          <p:cNvSpPr txBox="1"/>
          <p:nvPr/>
        </p:nvSpPr>
        <p:spPr>
          <a:xfrm>
            <a:off x="384048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515A6B"/>
                </a:solidFill>
              </a:rPr>
              <a:t>The issue is not that the loop is wrong. The issue is that timing responsibilities accumulate inside one control path.</a:t>
            </a:r>
            <a:endParaRPr lang="en-US" sz="1050"/>
          </a:p>
        </p:txBody>
      </p:sp>
      <p:sp>
        <p:nvSpPr>
          <p:cNvPr id="15" name="TextBox 15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3 / 22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Scaling Pressure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Mixed timing requirements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When a Loop Stops Scaling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RTOS pressure appears when different parts of the firmware need different timing behavior.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5436108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Fast event A button, sensor threshold, or packet arrival needs a short response path. Periodic work A control loop or sampling routine needs a stable release interval. Slow work Logging, formatting, flash access, or network work may run for longer than expected. Background Health checks and diagnostics should run when the CPU has slack.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966460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6D4AA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076188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Loop-level symptom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The slowest path controls the response time of unrelated work.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Interrupt handlers start carrying too much application logic.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Adding one feature changes timing behavior elsewhere.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Debug output changes timing enough to hide the original bug.</a:t>
            </a:r>
            <a:endParaRPr lang="en-US" sz="1400"/>
          </a:p>
        </p:txBody>
      </p:sp>
      <p:sp>
        <p:nvSpPr>
          <p:cNvPr id="14" name="TextBox 14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4 / 22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Real-Time Vocabulary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Predictability over raw speed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Real-Time Means Predictable, Not Fast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A real-time system is evaluated by whether important work completes within meaningful timing constraints.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264490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2644902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2425446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Latency</a:t>
            </a:r>
            <a:endParaRPr lang="en-US" sz="1400"/>
          </a:p>
          <a:p>
            <a:pPr/>
            <a:r>
              <a:rPr lang="en-US" sz="1400" dirty="0">
                <a:solidFill>
                  <a:srgbClr val="2B2F36"/>
                </a:solidFill>
              </a:rPr>
              <a:t>Delay between an event and the start or completion of the response that matters.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3175254" y="1901952"/>
            <a:ext cx="264490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175254" y="1901952"/>
            <a:ext cx="2644902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3284982" y="2048256"/>
            <a:ext cx="2425446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Jitter</a:t>
            </a:r>
            <a:endParaRPr lang="en-US" sz="1400"/>
          </a:p>
          <a:p>
            <a:pPr/>
            <a:r>
              <a:rPr lang="en-US" sz="1400" dirty="0">
                <a:solidFill>
                  <a:srgbClr val="2B2F36"/>
                </a:solidFill>
              </a:rPr>
              <a:t>Variation in timing from one execution to the next, even when the same code path runs.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5966460" y="1901952"/>
            <a:ext cx="264490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5966460" y="1901952"/>
            <a:ext cx="2644902" cy="54864"/>
          </a:xfrm>
          <a:prstGeom prst="rect">
            <a:avLst/>
          </a:prstGeom>
          <a:solidFill>
            <a:srgbClr val="9A6A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076188" y="2048256"/>
            <a:ext cx="2425446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Deadline</a:t>
            </a:r>
            <a:endParaRPr lang="en-US" sz="1400"/>
          </a:p>
          <a:p>
            <a:pPr/>
            <a:r>
              <a:rPr lang="en-US" sz="1400" dirty="0">
                <a:solidFill>
                  <a:srgbClr val="2B2F36"/>
                </a:solidFill>
              </a:rPr>
              <a:t>A time boundary after which the result becomes degraded, late, or useless.</a:t>
            </a: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8757666" y="1901952"/>
            <a:ext cx="264490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757666" y="1901952"/>
            <a:ext cx="2644902" cy="54864"/>
          </a:xfrm>
          <a:prstGeom prst="rect">
            <a:avLst/>
          </a:prstGeom>
          <a:solidFill>
            <a:srgbClr val="6D4AA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867394" y="2048256"/>
            <a:ext cx="2425446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Determinism</a:t>
            </a:r>
            <a:endParaRPr lang="en-US" sz="1400"/>
          </a:p>
          <a:p>
            <a:pPr/>
            <a:r>
              <a:rPr lang="en-US" sz="1400" dirty="0">
                <a:solidFill>
                  <a:srgbClr val="2B2F36"/>
                </a:solidFill>
              </a:rPr>
              <a:t>The ability to reason about timing behavior under a defined set of conditions.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384048" y="5650992"/>
            <a:ext cx="11018520" cy="822959"/>
          </a:xfrm>
          <a:prstGeom prst="roundRect">
            <a:avLst/>
          </a:prstGeom>
          <a:solidFill>
            <a:srgbClr val="EEF5FC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384048" y="5650992"/>
            <a:ext cx="11018520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493776" y="5797296"/>
            <a:ext cx="10799064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A faster MCU can reduce average execution time. It does not automatically make response time predictable when control flow and priority rules are unclear.</a:t>
            </a:r>
            <a:endParaRPr lang="en-US" sz="1200"/>
          </a:p>
        </p:txBody>
      </p:sp>
      <p:sp>
        <p:nvSpPr>
          <p:cNvPr id="23" name="TextBox 23"/>
          <p:cNvSpPr txBox="1"/>
          <p:nvPr/>
        </p:nvSpPr>
        <p:spPr>
          <a:xfrm>
            <a:off x="384048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515A6B"/>
                </a:solidFill>
              </a:rPr>
              <a:t>FreeRTOS is mostly a way to describe and enforce execution order, waiting, and wakeup conditions.</a:t>
            </a:r>
            <a:endParaRPr lang="en-US" sz="1050"/>
          </a:p>
        </p:txBody>
      </p:sp>
      <p:sp>
        <p:nvSpPr>
          <p:cNvPr id="24" name="TextBox 24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5 / 22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Timing Classes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Hard and soft real-time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Hard and Soft Real-Time Requirements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The Kernel Book introduces this distinction before any API because it shapes priority and scheduling decisions.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5436108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5436108" cy="54864"/>
          </a:xfrm>
          <a:prstGeom prst="rect">
            <a:avLst/>
          </a:prstGeom>
          <a:solidFill>
            <a:srgbClr val="9A6A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5216652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Hard real-time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A missed deadline can mean system failure.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Correctness includes timing, not only the computed value.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Design tends to reserve priority and bounded paths for the critical work.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Example category: protection, emergency response, safety action.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966460" y="1901952"/>
            <a:ext cx="5436108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076188" y="2048256"/>
            <a:ext cx="5216652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Soft real-time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A missed deadline reduces quality or responsiveness.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The system may remain usable after late completion.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Design can tolerate occasional delay, buffering, or retry.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Example category: user input, display update, status reporting.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384048" y="5650992"/>
            <a:ext cx="11018520" cy="822959"/>
          </a:xfrm>
          <a:prstGeom prst="roundRect">
            <a:avLst/>
          </a:prstGeom>
          <a:solidFill>
            <a:srgbClr val="FFF7E8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384048" y="5650992"/>
            <a:ext cx="11018520" cy="54864"/>
          </a:xfrm>
          <a:prstGeom prst="rect">
            <a:avLst/>
          </a:prstGeom>
          <a:solidFill>
            <a:srgbClr val="9A6A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93776" y="5797296"/>
            <a:ext cx="10799064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Priority assignment is not a moral ranking of code. It is a timing decision made for a specific system behavior.</a:t>
            </a:r>
            <a:endParaRPr lang="en-US" sz="1200"/>
          </a:p>
        </p:txBody>
      </p:sp>
      <p:sp>
        <p:nvSpPr>
          <p:cNvPr id="17" name="TextBox 17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6 / 22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Multitasking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Single-core MCU model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Multitasking on a Single Core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A Cortex-M4F core executes one instruction stream at a time. The RTOS makes multiple execution contexts manageable.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3258311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457200" y="2011680"/>
            <a:ext cx="3112007" cy="334670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50" dirty="0">
                <a:solidFill>
                  <a:srgbClr val="2B2F36"/>
                </a:solidFill>
              </a:rPr>
              <a:t>Task A Own stack, local control flow, waiting points</a:t>
            </a:r>
            <a:endParaRPr lang="en-US" sz="1250"/>
          </a:p>
        </p:txBody>
      </p:sp>
      <p:sp>
        <p:nvSpPr>
          <p:cNvPr id="10" name="TextBox 10"/>
          <p:cNvSpPr txBox="1"/>
          <p:nvPr/>
        </p:nvSpPr>
        <p:spPr>
          <a:xfrm>
            <a:off x="3788663" y="3114446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2000" dirty="0" b="1">
                <a:solidFill>
                  <a:srgbClr val="2563A6"/>
                </a:solidFill>
              </a:rPr>
              <a:t>-&gt;</a:t>
            </a:r>
            <a:endParaRPr lang="en-US" sz="2000"/>
          </a:p>
        </p:txBody>
      </p:sp>
      <p:sp>
        <p:nvSpPr>
          <p:cNvPr id="11" name="Shape 11"/>
          <p:cNvSpPr/>
          <p:nvPr/>
        </p:nvSpPr>
        <p:spPr>
          <a:xfrm>
            <a:off x="4264152" y="1901952"/>
            <a:ext cx="3258311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337304" y="2011680"/>
            <a:ext cx="3112007" cy="334670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50" dirty="0">
                <a:solidFill>
                  <a:srgbClr val="2B2F36"/>
                </a:solidFill>
              </a:rPr>
              <a:t>Scheduler Ready list, priority rule, blocking state</a:t>
            </a:r>
            <a:endParaRPr lang="en-US" sz="1250"/>
          </a:p>
        </p:txBody>
      </p:sp>
      <p:sp>
        <p:nvSpPr>
          <p:cNvPr id="13" name="TextBox 13"/>
          <p:cNvSpPr txBox="1"/>
          <p:nvPr/>
        </p:nvSpPr>
        <p:spPr>
          <a:xfrm>
            <a:off x="7668768" y="3114446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2000" dirty="0" b="1">
                <a:solidFill>
                  <a:srgbClr val="2563A6"/>
                </a:solidFill>
              </a:rPr>
              <a:t>-&gt;</a:t>
            </a:r>
            <a:endParaRPr lang="en-US" sz="2000"/>
          </a:p>
        </p:txBody>
      </p:sp>
      <p:sp>
        <p:nvSpPr>
          <p:cNvPr id="14" name="Shape 14"/>
          <p:cNvSpPr/>
          <p:nvPr/>
        </p:nvSpPr>
        <p:spPr>
          <a:xfrm>
            <a:off x="8144256" y="1901952"/>
            <a:ext cx="3258311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217408" y="2011680"/>
            <a:ext cx="3112007" cy="334670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50" dirty="0">
                <a:solidFill>
                  <a:srgbClr val="2B2F36"/>
                </a:solidFill>
              </a:rPr>
              <a:t>Task B Own stack, state, and execution history</a:t>
            </a:r>
            <a:endParaRPr lang="en-US" sz="1250"/>
          </a:p>
        </p:txBody>
      </p:sp>
      <p:sp>
        <p:nvSpPr>
          <p:cNvPr id="16" name="Shape 16"/>
          <p:cNvSpPr/>
          <p:nvPr/>
        </p:nvSpPr>
        <p:spPr>
          <a:xfrm>
            <a:off x="384048" y="5650992"/>
            <a:ext cx="3575304" cy="8229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384048" y="5650992"/>
            <a:ext cx="3575304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493776" y="5797296"/>
            <a:ext cx="3355848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Not true parallelism</a:t>
            </a:r>
            <a:endParaRPr lang="en-US" sz="1200"/>
          </a:p>
          <a:p>
            <a:pPr/>
            <a:r>
              <a:rPr lang="en-US" sz="1200" dirty="0">
                <a:solidFill>
                  <a:srgbClr val="2B2F36"/>
                </a:solidFill>
              </a:rPr>
              <a:t>The core still runs one task at a time unless the MCU has multiple cores.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4105656" y="5650992"/>
            <a:ext cx="3575304" cy="8229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105656" y="5650992"/>
            <a:ext cx="3575304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4215384" y="5797296"/>
            <a:ext cx="3355848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Independent context</a:t>
            </a:r>
            <a:endParaRPr lang="en-US" sz="1200"/>
          </a:p>
          <a:p>
            <a:pPr/>
            <a:r>
              <a:rPr lang="en-US" sz="1200" dirty="0">
                <a:solidFill>
                  <a:srgbClr val="2B2F36"/>
                </a:solidFill>
              </a:rPr>
              <a:t>Each task has its own stack and scheduler-visible state.</a:t>
            </a:r>
            <a:endParaRPr lang="en-US" sz="1200"/>
          </a:p>
        </p:txBody>
      </p:sp>
      <p:sp>
        <p:nvSpPr>
          <p:cNvPr id="22" name="Shape 22"/>
          <p:cNvSpPr/>
          <p:nvPr/>
        </p:nvSpPr>
        <p:spPr>
          <a:xfrm>
            <a:off x="7827264" y="5650992"/>
            <a:ext cx="3575304" cy="8229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7827264" y="5650992"/>
            <a:ext cx="3575304" cy="54864"/>
          </a:xfrm>
          <a:prstGeom prst="rect">
            <a:avLst/>
          </a:prstGeom>
          <a:solidFill>
            <a:srgbClr val="2F7D4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7936992" y="5797296"/>
            <a:ext cx="3355848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Structured waiting</a:t>
            </a:r>
            <a:endParaRPr lang="en-US" sz="1200"/>
          </a:p>
          <a:p>
            <a:pPr/>
            <a:r>
              <a:rPr lang="en-US" sz="1200" dirty="0">
                <a:solidFill>
                  <a:srgbClr val="2B2F36"/>
                </a:solidFill>
              </a:rPr>
              <a:t>Tasks can block for time, data, synchronization, or notification.</a:t>
            </a:r>
            <a:endParaRPr lang="en-US" sz="1200"/>
          </a:p>
        </p:txBody>
      </p:sp>
      <p:sp>
        <p:nvSpPr>
          <p:cNvPr id="25" name="TextBox 25"/>
          <p:cNvSpPr txBox="1"/>
          <p:nvPr/>
        </p:nvSpPr>
        <p:spPr>
          <a:xfrm>
            <a:off x="384048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515A6B"/>
                </a:solidFill>
              </a:rPr>
              <a:t>Multitasking is useful even before parallel hardware appears because it separates timing responsibilities.</a:t>
            </a:r>
            <a:endParaRPr lang="en-US" sz="1050"/>
          </a:p>
        </p:txBody>
      </p:sp>
      <p:sp>
        <p:nvSpPr>
          <p:cNvPr id="26" name="TextBox 26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7 / 22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Scheduler Preview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Selection and state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What the Scheduler Decides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The scheduler does not run every task. It selects among tasks that are eligible to run.</a:t>
            </a:r>
            <a:endParaRPr lang="en-US" sz="1350"/>
          </a:p>
        </p:txBody>
      </p:sp>
      <p:pic>
        <p:nvPicPr>
          <p:cNvPr id="8" name="figure_4_1_top_level_task_state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975104"/>
            <a:ext cx="5289804" cy="4425696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5966460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6D4AA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076188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Preview vocabulary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Ready : eligible for CPU selection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Running : currently executing on the core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Blocked : waiting for time, data, or an event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Suspended : outside normal scheduling until resumed</a:t>
            </a:r>
            <a:endParaRPr lang="en-US" sz="1400"/>
          </a:p>
        </p:txBody>
      </p:sp>
      <p:sp>
        <p:nvSpPr>
          <p:cNvPr id="12" name="TextBox 12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8 / 22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FreeRTOS Identity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Kernel and libraries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What FreeRTOS Is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FreeRTOS is not a desktop-style operating system. It is a small real-time kernel and a set of modular C libraries for microcontrollers and small microprocessors.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5436108" cy="106756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5436108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5216652" cy="85725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Application code Tasks, drivers, business logic, protocol decisions, product behavior.</a:t>
            </a:r>
            <a:endParaRPr lang="en-US" sz="1200"/>
          </a:p>
        </p:txBody>
      </p:sp>
      <p:sp>
        <p:nvSpPr>
          <p:cNvPr id="11" name="Shape 11"/>
          <p:cNvSpPr/>
          <p:nvPr/>
        </p:nvSpPr>
        <p:spPr>
          <a:xfrm>
            <a:off x="384048" y="3070098"/>
            <a:ext cx="5436108" cy="106756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84048" y="3070098"/>
            <a:ext cx="5436108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493776" y="3216402"/>
            <a:ext cx="5216652" cy="85725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FreeRTOS kernel Scheduler, task state, queues, semaphores, mutexes, timers, event groups, notifications.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384048" y="4238244"/>
            <a:ext cx="5436108" cy="106756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384048" y="4238244"/>
            <a:ext cx="5436108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93776" y="4384548"/>
            <a:ext cx="5216652" cy="85725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Port and HAL/BSP Cortex-M port code, STM32 HAL, board support, interrupt vector, clock and peripheral setup.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384048" y="5406390"/>
            <a:ext cx="5436108" cy="106756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384048" y="5406390"/>
            <a:ext cx="5436108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493776" y="5552694"/>
            <a:ext cx="5216652" cy="85725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Toolchain Compiler, startup file, linker script, generated firmware image, debug probe.</a:t>
            </a:r>
            <a:endParaRPr lang="en-US" sz="1200"/>
          </a:p>
        </p:txBody>
      </p:sp>
      <p:sp>
        <p:nvSpPr>
          <p:cNvPr id="20" name="Shape 20"/>
          <p:cNvSpPr/>
          <p:nvPr/>
        </p:nvSpPr>
        <p:spPr>
          <a:xfrm>
            <a:off x="5966460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6076188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Course framing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 code is linked into the firmware image.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The kernel runs because application code creates tasks and starts the scheduler.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Board-specific details remain visible through the port, HAL, BSP, startup, and linker layers.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STM32CubeIDE can generate a CMSIS-RTOS V2 wrapper path, but the native FreeRTOS concepts remain the foundation.</a:t>
            </a:r>
            <a:endParaRPr lang="en-US" sz="1400"/>
          </a:p>
        </p:txBody>
      </p:sp>
      <p:sp>
        <p:nvSpPr>
          <p:cNvPr id="23" name="TextBox 23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9 / 22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Firmware Boundary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Library-like kernel integration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FreeRTOS in the Firmware Image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The first source-level idea: FreeRTOS becomes part of the firmware build, not a separate installed OS.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5436108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What appears in the project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main.c and application task files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FreeRTOSConfig.h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Kernel sources such as tasks.c and queue.c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Portable layer for ARM Cortex-M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HAL/BSP and startup/linker files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966460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076188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Create objects xTaskCreate() xQueueCreate() -&gt; Start scheduler vTaskStartScheduler() or CMSIS wrapper path -&gt; Run by state Ready, Running, Blocked, interrupt wakeup</a:t>
            </a:r>
            <a:endParaRPr lang="en-US" sz="1400"/>
          </a:p>
        </p:txBody>
      </p:sp>
      <p:sp>
        <p:nvSpPr>
          <p:cNvPr id="14" name="TextBox 14"/>
          <p:cNvSpPr txBox="1"/>
          <p:nvPr/>
        </p:nvSpPr>
        <p:spPr>
          <a:xfrm>
            <a:off x="384048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515A6B"/>
                </a:solidFill>
              </a:rPr>
              <a:t>Module 01 will turn this map into concrete folders, generated files, and build boundaries.</a:t>
            </a:r>
            <a:endParaRPr lang="en-US" sz="1050"/>
          </a:p>
        </p:txBody>
      </p:sp>
      <p:sp>
        <p:nvSpPr>
          <p:cNvPr id="15" name="TextBox 15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10 / 22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Terminology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Task, thread, process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Terminology: Task, Thread, Process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FreeRTOS calls each schedulable execution context a task. That choice avoids desktop OS assumptions.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3672840" cy="713232"/>
          </a:xfrm>
          <a:prstGeom prst="rect">
            <a:avLst/>
          </a:prstGeom>
          <a:solidFill>
            <a:srgbClr val="EEF2F7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402336" y="1920240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2B2F36"/>
                </a:solidFill>
              </a:rPr>
              <a:t>Term</a:t>
            </a:r>
            <a:endParaRPr lang="en-US" sz="1050"/>
          </a:p>
        </p:txBody>
      </p:sp>
      <p:sp>
        <p:nvSpPr>
          <p:cNvPr id="10" name="Shape 10"/>
          <p:cNvSpPr/>
          <p:nvPr/>
        </p:nvSpPr>
        <p:spPr>
          <a:xfrm>
            <a:off x="4056888" y="1901952"/>
            <a:ext cx="3672840" cy="713232"/>
          </a:xfrm>
          <a:prstGeom prst="rect">
            <a:avLst/>
          </a:prstGeom>
          <a:solidFill>
            <a:srgbClr val="EEF2F7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075175" y="1920240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2B2F36"/>
                </a:solidFill>
              </a:rPr>
              <a:t>Typical meaning</a:t>
            </a:r>
            <a:endParaRPr lang="en-US" sz="1050"/>
          </a:p>
        </p:txBody>
      </p:sp>
      <p:sp>
        <p:nvSpPr>
          <p:cNvPr id="12" name="Shape 12"/>
          <p:cNvSpPr/>
          <p:nvPr/>
        </p:nvSpPr>
        <p:spPr>
          <a:xfrm>
            <a:off x="7729728" y="1901952"/>
            <a:ext cx="3672840" cy="713232"/>
          </a:xfrm>
          <a:prstGeom prst="rect">
            <a:avLst/>
          </a:prstGeom>
          <a:solidFill>
            <a:srgbClr val="EEF2F7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7748015" y="1920240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2B2F36"/>
                </a:solidFill>
              </a:rPr>
              <a:t>Course usage</a:t>
            </a:r>
            <a:endParaRPr lang="en-US" sz="1050"/>
          </a:p>
        </p:txBody>
      </p:sp>
      <p:sp>
        <p:nvSpPr>
          <p:cNvPr id="14" name="Shape 14"/>
          <p:cNvSpPr/>
          <p:nvPr/>
        </p:nvSpPr>
        <p:spPr>
          <a:xfrm>
            <a:off x="384048" y="2615184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402336" y="2633472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task</a:t>
            </a:r>
            <a:endParaRPr lang="en-US" sz="1050"/>
          </a:p>
        </p:txBody>
      </p:sp>
      <p:sp>
        <p:nvSpPr>
          <p:cNvPr id="16" name="Shape 16"/>
          <p:cNvSpPr/>
          <p:nvPr/>
        </p:nvSpPr>
        <p:spPr>
          <a:xfrm>
            <a:off x="4056888" y="2615184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4075175" y="2633472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FreeRTOS execution unit with its own stack and scheduler-visible state.</a:t>
            </a:r>
            <a:endParaRPr lang="en-US" sz="1050"/>
          </a:p>
        </p:txBody>
      </p:sp>
      <p:sp>
        <p:nvSpPr>
          <p:cNvPr id="18" name="Shape 18"/>
          <p:cNvSpPr/>
          <p:nvPr/>
        </p:nvSpPr>
        <p:spPr>
          <a:xfrm>
            <a:off x="7729728" y="2615184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7748015" y="2633472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The main term for Module 02 onward.</a:t>
            </a:r>
            <a:endParaRPr lang="en-US" sz="1050"/>
          </a:p>
        </p:txBody>
      </p:sp>
      <p:sp>
        <p:nvSpPr>
          <p:cNvPr id="20" name="Shape 20"/>
          <p:cNvSpPr/>
          <p:nvPr/>
        </p:nvSpPr>
        <p:spPr>
          <a:xfrm>
            <a:off x="384048" y="3328416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402336" y="3346704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thread</a:t>
            </a:r>
            <a:endParaRPr lang="en-US" sz="1050"/>
          </a:p>
        </p:txBody>
      </p:sp>
      <p:sp>
        <p:nvSpPr>
          <p:cNvPr id="22" name="Shape 22"/>
          <p:cNvSpPr/>
          <p:nvPr/>
        </p:nvSpPr>
        <p:spPr>
          <a:xfrm>
            <a:off x="4056888" y="3328416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4075175" y="3346704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General OS term for a schedulable execution path inside a process.</a:t>
            </a:r>
            <a:endParaRPr lang="en-US" sz="1050"/>
          </a:p>
        </p:txBody>
      </p:sp>
      <p:sp>
        <p:nvSpPr>
          <p:cNvPr id="24" name="Shape 24"/>
          <p:cNvSpPr/>
          <p:nvPr/>
        </p:nvSpPr>
        <p:spPr>
          <a:xfrm>
            <a:off x="7729728" y="3328416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7748015" y="3346704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Used only for analogy when needed.</a:t>
            </a:r>
            <a:endParaRPr lang="en-US" sz="1050"/>
          </a:p>
        </p:txBody>
      </p:sp>
      <p:sp>
        <p:nvSpPr>
          <p:cNvPr id="26" name="Shape 26"/>
          <p:cNvSpPr/>
          <p:nvPr/>
        </p:nvSpPr>
        <p:spPr>
          <a:xfrm>
            <a:off x="384048" y="4041648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402336" y="4059935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process</a:t>
            </a:r>
            <a:endParaRPr lang="en-US" sz="1050"/>
          </a:p>
        </p:txBody>
      </p:sp>
      <p:sp>
        <p:nvSpPr>
          <p:cNvPr id="28" name="Shape 28"/>
          <p:cNvSpPr/>
          <p:nvPr/>
        </p:nvSpPr>
        <p:spPr>
          <a:xfrm>
            <a:off x="4056888" y="4041648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4075175" y="4059935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Usually implies an address space and OS-managed resource boundary.</a:t>
            </a:r>
            <a:endParaRPr lang="en-US" sz="1050"/>
          </a:p>
        </p:txBody>
      </p:sp>
      <p:sp>
        <p:nvSpPr>
          <p:cNvPr id="30" name="Shape 30"/>
          <p:cNvSpPr/>
          <p:nvPr/>
        </p:nvSpPr>
        <p:spPr>
          <a:xfrm>
            <a:off x="7729728" y="4041648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7748015" y="4059935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Usually avoided for MCU FreeRTOS explanations.</a:t>
            </a:r>
            <a:endParaRPr lang="en-US" sz="1050"/>
          </a:p>
        </p:txBody>
      </p:sp>
      <p:sp>
        <p:nvSpPr>
          <p:cNvPr id="32" name="Shape 32"/>
          <p:cNvSpPr/>
          <p:nvPr/>
        </p:nvSpPr>
        <p:spPr>
          <a:xfrm>
            <a:off x="384048" y="4754880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402336" y="4773168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kernel object</a:t>
            </a:r>
            <a:endParaRPr lang="en-US" sz="1050"/>
          </a:p>
        </p:txBody>
      </p:sp>
      <p:sp>
        <p:nvSpPr>
          <p:cNvPr id="34" name="Shape 34"/>
          <p:cNvSpPr/>
          <p:nvPr/>
        </p:nvSpPr>
        <p:spPr>
          <a:xfrm>
            <a:off x="4056888" y="4754880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4075175" y="4773168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Queue, semaphore, mutex, timer, event group, notification, buffer.</a:t>
            </a:r>
            <a:endParaRPr lang="en-US" sz="1050"/>
          </a:p>
        </p:txBody>
      </p:sp>
      <p:sp>
        <p:nvSpPr>
          <p:cNvPr id="36" name="Shape 36"/>
          <p:cNvSpPr/>
          <p:nvPr/>
        </p:nvSpPr>
        <p:spPr>
          <a:xfrm>
            <a:off x="7729728" y="4754880"/>
            <a:ext cx="3672840" cy="713232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7748015" y="4773168"/>
            <a:ext cx="3636264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>
                <a:solidFill>
                  <a:srgbClr val="2B2F36"/>
                </a:solidFill>
              </a:rPr>
              <a:t>Used to group FreeRTOS APIs by design purpose.</a:t>
            </a:r>
            <a:endParaRPr lang="en-US" sz="1050"/>
          </a:p>
        </p:txBody>
      </p:sp>
      <p:sp>
        <p:nvSpPr>
          <p:cNvPr id="38" name="Shape 38"/>
          <p:cNvSpPr/>
          <p:nvPr/>
        </p:nvSpPr>
        <p:spPr>
          <a:xfrm>
            <a:off x="384048" y="5650992"/>
            <a:ext cx="11018520" cy="822959"/>
          </a:xfrm>
          <a:prstGeom prst="roundRect">
            <a:avLst/>
          </a:prstGeom>
          <a:solidFill>
            <a:srgbClr val="FFF7E8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9" name="Shape 39"/>
          <p:cNvSpPr/>
          <p:nvPr/>
        </p:nvSpPr>
        <p:spPr>
          <a:xfrm>
            <a:off x="384048" y="5650992"/>
            <a:ext cx="11018520" cy="54864"/>
          </a:xfrm>
          <a:prstGeom prst="rect">
            <a:avLst/>
          </a:prstGeom>
          <a:solidFill>
            <a:srgbClr val="9A6A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493776" y="5797296"/>
            <a:ext cx="10799064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A task is not a separate program. On a typical Cortex-M FreeRTOS system, tasks share the same address space.</a:t>
            </a:r>
            <a:endParaRPr lang="en-US" sz="1200"/>
          </a:p>
        </p:txBody>
      </p:sp>
      <p:sp>
        <p:nvSpPr>
          <p:cNvPr id="41" name="TextBox 41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11 / 22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Motivation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Why use an RTOS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Why Use an RTOS?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The Kernel Book frames RTOS use as a set of software design benefits, not only a way to chase deadlines.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264490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2644902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2425446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Timing abstraction</a:t>
            </a:r>
            <a:endParaRPr lang="en-US" sz="1400"/>
          </a:p>
          <a:p>
            <a:pPr/>
            <a:r>
              <a:rPr lang="en-US" sz="1400" dirty="0">
                <a:solidFill>
                  <a:srgbClr val="2B2F36"/>
                </a:solidFill>
              </a:rPr>
              <a:t>Delay, timeout, periodic release, and event wait become explicit API-level concepts.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3175254" y="1901952"/>
            <a:ext cx="264490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175254" y="1901952"/>
            <a:ext cx="2644902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3284982" y="2048256"/>
            <a:ext cx="2425446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Maintainability</a:t>
            </a:r>
            <a:endParaRPr lang="en-US" sz="1400"/>
          </a:p>
          <a:p>
            <a:pPr/>
            <a:r>
              <a:rPr lang="en-US" sz="1400" dirty="0">
                <a:solidFill>
                  <a:srgbClr val="2B2F36"/>
                </a:solidFill>
              </a:rPr>
              <a:t>Timing details move out of tangled module-to-module control flow.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5966460" y="1901952"/>
            <a:ext cx="264490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5966460" y="1901952"/>
            <a:ext cx="2644902" cy="54864"/>
          </a:xfrm>
          <a:prstGeom prst="rect">
            <a:avLst/>
          </a:prstGeom>
          <a:solidFill>
            <a:srgbClr val="2F7D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076188" y="2048256"/>
            <a:ext cx="2425446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Modularity</a:t>
            </a:r>
            <a:endParaRPr lang="en-US" sz="1400"/>
          </a:p>
          <a:p>
            <a:pPr/>
            <a:r>
              <a:rPr lang="en-US" sz="1400" dirty="0">
                <a:solidFill>
                  <a:srgbClr val="2B2F36"/>
                </a:solidFill>
              </a:rPr>
              <a:t>Tasks become independent modules with defined responsibility and interface.</a:t>
            </a: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8757666" y="1901952"/>
            <a:ext cx="264490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757666" y="1901952"/>
            <a:ext cx="2644902" cy="54864"/>
          </a:xfrm>
          <a:prstGeom prst="rect">
            <a:avLst/>
          </a:prstGeom>
          <a:solidFill>
            <a:srgbClr val="9A6A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867394" y="2048256"/>
            <a:ext cx="2425446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Testing and reuse</a:t>
            </a:r>
            <a:endParaRPr lang="en-US" sz="1400"/>
          </a:p>
          <a:p>
            <a:pPr/>
            <a:r>
              <a:rPr lang="en-US" sz="1400" dirty="0">
                <a:solidFill>
                  <a:srgbClr val="2B2F36"/>
                </a:solidFill>
              </a:rPr>
              <a:t>Smaller independent execution paths are easier to test and move to another project.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384048" y="5650992"/>
            <a:ext cx="3575304" cy="8229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384048" y="5650992"/>
            <a:ext cx="3575304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493776" y="5797296"/>
            <a:ext cx="3355848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Efficiency</a:t>
            </a:r>
            <a:endParaRPr lang="en-US" sz="1200"/>
          </a:p>
          <a:p>
            <a:pPr/>
            <a:r>
              <a:rPr lang="en-US" sz="1200" dirty="0">
                <a:solidFill>
                  <a:srgbClr val="2B2F36"/>
                </a:solidFill>
              </a:rPr>
              <a:t>Blocked tasks do not poll. They wake when time, data, or events arrive.</a:t>
            </a:r>
            <a:endParaRPr lang="en-US" sz="1200"/>
          </a:p>
        </p:txBody>
      </p:sp>
      <p:sp>
        <p:nvSpPr>
          <p:cNvPr id="23" name="Shape 23"/>
          <p:cNvSpPr/>
          <p:nvPr/>
        </p:nvSpPr>
        <p:spPr>
          <a:xfrm>
            <a:off x="4105656" y="5650992"/>
            <a:ext cx="3575304" cy="8229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4105656" y="5650992"/>
            <a:ext cx="3575304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4215384" y="5797296"/>
            <a:ext cx="3355848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Idle time</a:t>
            </a:r>
            <a:endParaRPr lang="en-US" sz="1200"/>
          </a:p>
          <a:p>
            <a:pPr/>
            <a:r>
              <a:rPr lang="en-US" sz="1200" dirty="0">
                <a:solidFill>
                  <a:srgbClr val="2B2F36"/>
                </a:solidFill>
              </a:rPr>
              <a:t>The idle task exposes spare CPU capacity and low-power opportunities.</a:t>
            </a:r>
            <a:endParaRPr lang="en-US" sz="1200"/>
          </a:p>
        </p:txBody>
      </p:sp>
      <p:sp>
        <p:nvSpPr>
          <p:cNvPr id="26" name="Shape 26"/>
          <p:cNvSpPr/>
          <p:nvPr/>
        </p:nvSpPr>
        <p:spPr>
          <a:xfrm>
            <a:off x="7827264" y="5650992"/>
            <a:ext cx="3575304" cy="8229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7827264" y="5650992"/>
            <a:ext cx="3575304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7936992" y="5797296"/>
            <a:ext cx="3355848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Interrupt discipline</a:t>
            </a:r>
            <a:endParaRPr lang="en-US" sz="1200"/>
          </a:p>
          <a:p>
            <a:pPr/>
            <a:r>
              <a:rPr lang="en-US" sz="1200" dirty="0">
                <a:solidFill>
                  <a:srgbClr val="2B2F36"/>
                </a:solidFill>
              </a:rPr>
              <a:t>ISRs can stay short by deferring processing to task context.</a:t>
            </a:r>
            <a:endParaRPr lang="en-US" sz="1200"/>
          </a:p>
        </p:txBody>
      </p:sp>
      <p:sp>
        <p:nvSpPr>
          <p:cNvPr id="29" name="TextBox 29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12 / 22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Design Shift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Event-driven firmware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Event-Driven Firmware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A major RTOS shift is moving from repeated checking to blocked waiting and explicit wakeup.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5436108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5436108" cy="54864"/>
          </a:xfrm>
          <a:prstGeom prst="rect">
            <a:avLst/>
          </a:prstGeom>
          <a:solidFill>
            <a:srgbClr val="9A6A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5216652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Polling-heavy loop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Repeated checks even when nothing changed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CPU time spent asking the same question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Long loop path increases response variation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State scattered across flags and timing counters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966460" y="1901952"/>
            <a:ext cx="5436108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2F7D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076188" y="2048256"/>
            <a:ext cx="5216652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RTOS event-driven path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Task blocks until data, time, or event is ready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Scheduler runs another Ready task while waiting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Queue, semaphore, notification, or event group encodes the wakeup reason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Timeout policy becomes part of the design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384048" y="5650992"/>
            <a:ext cx="11018520" cy="822959"/>
          </a:xfrm>
          <a:prstGeom prst="roundRect">
            <a:avLst/>
          </a:prstGeom>
          <a:solidFill>
            <a:srgbClr val="EDF8F8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384048" y="5650992"/>
            <a:ext cx="11018520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93776" y="5797296"/>
            <a:ext cx="10799064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Module 06 through Module 14 are mostly a study of different wakeup and communication objects.</a:t>
            </a:r>
            <a:endParaRPr lang="en-US" sz="1200"/>
          </a:p>
        </p:txBody>
      </p:sp>
      <p:sp>
        <p:nvSpPr>
          <p:cNvPr id="17" name="TextBox 17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13 / 22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Interrupt Discipline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Deferred processing preview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Interrupts Stay Short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An RTOS does not remove interrupts. It gives the firmware a disciplined way to leave heavy work outside ISR context.</a:t>
            </a:r>
            <a:endParaRPr lang="en-US" sz="1350"/>
          </a:p>
        </p:txBody>
      </p:sp>
      <p:pic>
        <p:nvPicPr>
          <p:cNvPr id="8" name="figure_7_1_completing_interrupt_processing_in_a_high_priority_task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975104"/>
            <a:ext cx="5289804" cy="4425696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5966460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076188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Preview rule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ISR handles the immediate hardware event.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ISR uses a FromISR API when FreeRTOS interaction is needed.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A task completes longer processing in normal task context.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The ISR may request a context switch if a higher priority task becomes Ready.</a:t>
            </a:r>
            <a:endParaRPr lang="en-US" sz="1400"/>
          </a:p>
        </p:txBody>
      </p:sp>
      <p:sp>
        <p:nvSpPr>
          <p:cNvPr id="12" name="TextBox 12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14 / 22</a:t>
            </a:r>
            <a:endParaRPr lang="en-US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Feature Map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Problem to object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FreeRTOS Kernel Feature Map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Module 00 only names the tools. Later modules explain mechanisms, API details, failure modes, and STM32 checkpoints.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2644902" cy="2212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2644902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0" name="task_execu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12064" y="2066544"/>
            <a:ext cx="512064" cy="512064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33856" y="2048256"/>
            <a:ext cx="1803654" cy="200253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Independent execution context and responsibility boundary.</a:t>
            </a: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3175254" y="1901952"/>
            <a:ext cx="2644902" cy="2212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3175254" y="1901952"/>
            <a:ext cx="2644902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4" name="scheduler_selection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303270" y="2066544"/>
            <a:ext cx="512064" cy="512064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925062" y="2048256"/>
            <a:ext cx="1803654" cy="200253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Priority and state based CPU ownership decision.</a:t>
            </a:r>
            <a:endParaRPr lang="en-US" sz="1400"/>
          </a:p>
        </p:txBody>
      </p:sp>
      <p:sp>
        <p:nvSpPr>
          <p:cNvPr id="16" name="Shape 16"/>
          <p:cNvSpPr/>
          <p:nvPr/>
        </p:nvSpPr>
        <p:spPr>
          <a:xfrm>
            <a:off x="5966460" y="1901952"/>
            <a:ext cx="2644902" cy="2212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5966460" y="1901952"/>
            <a:ext cx="2644902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8" name="queue_transfer_generated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6094476" y="2066544"/>
            <a:ext cx="512064" cy="512064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716268" y="2048256"/>
            <a:ext cx="1803654" cy="200253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Data transfer plus blocking behavior between tasks.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8757666" y="1901952"/>
            <a:ext cx="2644902" cy="2212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8757666" y="1901952"/>
            <a:ext cx="2644902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2" name="mutex_ownership_generated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885682" y="2066544"/>
            <a:ext cx="512064" cy="512064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9507474" y="2048256"/>
            <a:ext cx="1803654" cy="200253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Shared resource ownership with priority inheritance.</a:t>
            </a:r>
            <a:endParaRPr lang="en-US" sz="1400"/>
          </a:p>
        </p:txBody>
      </p:sp>
      <p:sp>
        <p:nvSpPr>
          <p:cNvPr id="24" name="Shape 24"/>
          <p:cNvSpPr/>
          <p:nvPr/>
        </p:nvSpPr>
        <p:spPr>
          <a:xfrm>
            <a:off x="384048" y="4261104"/>
            <a:ext cx="2644902" cy="2212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384048" y="4261104"/>
            <a:ext cx="2644902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6" name="timer_service_generated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512064" y="4425696"/>
            <a:ext cx="512064" cy="512064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133856" y="4407408"/>
            <a:ext cx="1803654" cy="200253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Time event callback without application polling loops.</a:t>
            </a:r>
            <a:endParaRPr lang="en-US" sz="1400"/>
          </a:p>
        </p:txBody>
      </p:sp>
      <p:sp>
        <p:nvSpPr>
          <p:cNvPr id="28" name="Shape 28"/>
          <p:cNvSpPr/>
          <p:nvPr/>
        </p:nvSpPr>
        <p:spPr>
          <a:xfrm>
            <a:off x="3175254" y="4261104"/>
            <a:ext cx="2644902" cy="2212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3175254" y="4261104"/>
            <a:ext cx="2644902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0" name="event_bits_generated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3303270" y="4425696"/>
            <a:ext cx="512064" cy="512064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3925062" y="4407408"/>
            <a:ext cx="1803654" cy="200253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Multiple conditions encoded as waitable bits.</a:t>
            </a:r>
            <a:endParaRPr lang="en-US" sz="1400"/>
          </a:p>
        </p:txBody>
      </p:sp>
      <p:sp>
        <p:nvSpPr>
          <p:cNvPr id="32" name="Shape 32"/>
          <p:cNvSpPr/>
          <p:nvPr/>
        </p:nvSpPr>
        <p:spPr>
          <a:xfrm>
            <a:off x="5966460" y="4261104"/>
            <a:ext cx="2644902" cy="2212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5966460" y="4261104"/>
            <a:ext cx="2644902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4" name="task_notification_generated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6094476" y="4425696"/>
            <a:ext cx="512064" cy="512064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6716268" y="4407408"/>
            <a:ext cx="1803654" cy="200253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Lightweight direct signal to one task.</a:t>
            </a:r>
            <a:endParaRPr lang="en-US" sz="1400"/>
          </a:p>
        </p:txBody>
      </p:sp>
      <p:sp>
        <p:nvSpPr>
          <p:cNvPr id="36" name="Shape 36"/>
          <p:cNvSpPr/>
          <p:nvPr/>
        </p:nvSpPr>
        <p:spPr>
          <a:xfrm>
            <a:off x="8757666" y="4261104"/>
            <a:ext cx="2644902" cy="22128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7" name="Shape 37"/>
          <p:cNvSpPr/>
          <p:nvPr/>
        </p:nvSpPr>
        <p:spPr>
          <a:xfrm>
            <a:off x="8757666" y="4261104"/>
            <a:ext cx="2644902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8" name="stream_bytes_generated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8885682" y="4425696"/>
            <a:ext cx="512064" cy="512064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9507474" y="4407408"/>
            <a:ext cx="1803654" cy="200253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Byte stream and message boundary data paths.</a:t>
            </a:r>
            <a:endParaRPr lang="en-US" sz="1400"/>
          </a:p>
        </p:txBody>
      </p:sp>
      <p:sp>
        <p:nvSpPr>
          <p:cNvPr id="40" name="TextBox 40"/>
          <p:cNvSpPr txBox="1"/>
          <p:nvPr/>
        </p:nvSpPr>
        <p:spPr>
          <a:xfrm>
            <a:off x="384048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515A6B"/>
                </a:solidFill>
              </a:rPr>
              <a:t>Object choice is a design decision about ownership, waiting, data shape, and timing.</a:t>
            </a:r>
            <a:endParaRPr lang="en-US" sz="1050"/>
          </a:p>
        </p:txBody>
      </p:sp>
      <p:sp>
        <p:nvSpPr>
          <p:cNvPr id="41" name="TextBox 41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15 / 22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Feature Map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Course path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From Feature Names to Course Modules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The full course is organized around the problems each kernel object solves.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3672840" cy="508000"/>
          </a:xfrm>
          <a:prstGeom prst="rect">
            <a:avLst/>
          </a:prstGeom>
          <a:solidFill>
            <a:srgbClr val="EEF2F7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402336" y="1920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 b="1">
                <a:solidFill>
                  <a:srgbClr val="2B2F36"/>
                </a:solidFill>
              </a:rPr>
              <a:t>Problem</a:t>
            </a:r>
            <a:endParaRPr lang="en-US" sz="919"/>
          </a:p>
        </p:txBody>
      </p:sp>
      <p:sp>
        <p:nvSpPr>
          <p:cNvPr id="10" name="Shape 10"/>
          <p:cNvSpPr/>
          <p:nvPr/>
        </p:nvSpPr>
        <p:spPr>
          <a:xfrm>
            <a:off x="4056888" y="1901952"/>
            <a:ext cx="3672840" cy="508000"/>
          </a:xfrm>
          <a:prstGeom prst="rect">
            <a:avLst/>
          </a:prstGeom>
          <a:solidFill>
            <a:srgbClr val="EEF2F7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075175" y="1920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 b="1">
                <a:solidFill>
                  <a:srgbClr val="2B2F36"/>
                </a:solidFill>
              </a:rPr>
              <a:t>FreeRTOS concept</a:t>
            </a:r>
            <a:endParaRPr lang="en-US" sz="919"/>
          </a:p>
        </p:txBody>
      </p:sp>
      <p:sp>
        <p:nvSpPr>
          <p:cNvPr id="12" name="Shape 12"/>
          <p:cNvSpPr/>
          <p:nvPr/>
        </p:nvSpPr>
        <p:spPr>
          <a:xfrm>
            <a:off x="7729728" y="1901952"/>
            <a:ext cx="3672840" cy="508000"/>
          </a:xfrm>
          <a:prstGeom prst="rect">
            <a:avLst/>
          </a:prstGeom>
          <a:solidFill>
            <a:srgbClr val="EEF2F7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7748015" y="1920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 b="1">
                <a:solidFill>
                  <a:srgbClr val="2B2F36"/>
                </a:solidFill>
              </a:rPr>
              <a:t>Detailed module</a:t>
            </a:r>
            <a:endParaRPr lang="en-US" sz="919"/>
          </a:p>
        </p:txBody>
      </p:sp>
      <p:sp>
        <p:nvSpPr>
          <p:cNvPr id="14" name="Shape 14"/>
          <p:cNvSpPr/>
          <p:nvPr/>
        </p:nvSpPr>
        <p:spPr>
          <a:xfrm>
            <a:off x="384048" y="2409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402336" y="2428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Separate execution responsibilities</a:t>
            </a:r>
            <a:endParaRPr lang="en-US" sz="919"/>
          </a:p>
        </p:txBody>
      </p:sp>
      <p:sp>
        <p:nvSpPr>
          <p:cNvPr id="16" name="Shape 16"/>
          <p:cNvSpPr/>
          <p:nvPr/>
        </p:nvSpPr>
        <p:spPr>
          <a:xfrm>
            <a:off x="4056888" y="2409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4075175" y="2428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Task, TCB, stack</a:t>
            </a:r>
            <a:endParaRPr lang="en-US" sz="919"/>
          </a:p>
        </p:txBody>
      </p:sp>
      <p:sp>
        <p:nvSpPr>
          <p:cNvPr id="18" name="Shape 18"/>
          <p:cNvSpPr/>
          <p:nvPr/>
        </p:nvSpPr>
        <p:spPr>
          <a:xfrm>
            <a:off x="7729728" y="2409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7748015" y="2428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Module 02</a:t>
            </a:r>
            <a:endParaRPr lang="en-US" sz="919"/>
          </a:p>
        </p:txBody>
      </p:sp>
      <p:sp>
        <p:nvSpPr>
          <p:cNvPr id="20" name="Shape 20"/>
          <p:cNvSpPr/>
          <p:nvPr/>
        </p:nvSpPr>
        <p:spPr>
          <a:xfrm>
            <a:off x="384048" y="2917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402336" y="2936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Choose execution order under timing pressure</a:t>
            </a:r>
            <a:endParaRPr lang="en-US" sz="919"/>
          </a:p>
        </p:txBody>
      </p:sp>
      <p:sp>
        <p:nvSpPr>
          <p:cNvPr id="22" name="Shape 22"/>
          <p:cNvSpPr/>
          <p:nvPr/>
        </p:nvSpPr>
        <p:spPr>
          <a:xfrm>
            <a:off x="4056888" y="2917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4075175" y="2936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Priority, tick, scheduler policy</a:t>
            </a:r>
            <a:endParaRPr lang="en-US" sz="919"/>
          </a:p>
        </p:txBody>
      </p:sp>
      <p:sp>
        <p:nvSpPr>
          <p:cNvPr id="24" name="Shape 24"/>
          <p:cNvSpPr/>
          <p:nvPr/>
        </p:nvSpPr>
        <p:spPr>
          <a:xfrm>
            <a:off x="7729728" y="2917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7748015" y="2936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Module 03-04</a:t>
            </a:r>
            <a:endParaRPr lang="en-US" sz="919"/>
          </a:p>
        </p:txBody>
      </p:sp>
      <p:sp>
        <p:nvSpPr>
          <p:cNvPr id="26" name="Shape 26"/>
          <p:cNvSpPr/>
          <p:nvPr/>
        </p:nvSpPr>
        <p:spPr>
          <a:xfrm>
            <a:off x="384048" y="3425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402336" y="3444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Move data between tasks</a:t>
            </a:r>
            <a:endParaRPr lang="en-US" sz="919"/>
          </a:p>
        </p:txBody>
      </p:sp>
      <p:sp>
        <p:nvSpPr>
          <p:cNvPr id="28" name="Shape 28"/>
          <p:cNvSpPr/>
          <p:nvPr/>
        </p:nvSpPr>
        <p:spPr>
          <a:xfrm>
            <a:off x="4056888" y="3425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4075175" y="3444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Queue, mailbox, pointer queue</a:t>
            </a:r>
            <a:endParaRPr lang="en-US" sz="919"/>
          </a:p>
        </p:txBody>
      </p:sp>
      <p:sp>
        <p:nvSpPr>
          <p:cNvPr id="30" name="Shape 30"/>
          <p:cNvSpPr/>
          <p:nvPr/>
        </p:nvSpPr>
        <p:spPr>
          <a:xfrm>
            <a:off x="7729728" y="3425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7748015" y="3444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Module 06-07</a:t>
            </a:r>
            <a:endParaRPr lang="en-US" sz="919"/>
          </a:p>
        </p:txBody>
      </p:sp>
      <p:sp>
        <p:nvSpPr>
          <p:cNvPr id="32" name="Shape 32"/>
          <p:cNvSpPr/>
          <p:nvPr/>
        </p:nvSpPr>
        <p:spPr>
          <a:xfrm>
            <a:off x="384048" y="3933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402336" y="3952239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Signal events and protect resources</a:t>
            </a:r>
            <a:endParaRPr lang="en-US" sz="919"/>
          </a:p>
        </p:txBody>
      </p:sp>
      <p:sp>
        <p:nvSpPr>
          <p:cNvPr id="34" name="Shape 34"/>
          <p:cNvSpPr/>
          <p:nvPr/>
        </p:nvSpPr>
        <p:spPr>
          <a:xfrm>
            <a:off x="4056888" y="3933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4075175" y="3952239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Semaphore, mutex, critical section</a:t>
            </a:r>
            <a:endParaRPr lang="en-US" sz="919"/>
          </a:p>
        </p:txBody>
      </p:sp>
      <p:sp>
        <p:nvSpPr>
          <p:cNvPr id="36" name="Shape 36"/>
          <p:cNvSpPr/>
          <p:nvPr/>
        </p:nvSpPr>
        <p:spPr>
          <a:xfrm>
            <a:off x="7729728" y="3933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7748015" y="3952239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Module 10-11</a:t>
            </a:r>
            <a:endParaRPr lang="en-US" sz="919"/>
          </a:p>
        </p:txBody>
      </p:sp>
      <p:sp>
        <p:nvSpPr>
          <p:cNvPr id="38" name="Shape 38"/>
          <p:cNvSpPr/>
          <p:nvPr/>
        </p:nvSpPr>
        <p:spPr>
          <a:xfrm>
            <a:off x="384048" y="4441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402336" y="4460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Represent time-driven work</a:t>
            </a:r>
            <a:endParaRPr lang="en-US" sz="919"/>
          </a:p>
        </p:txBody>
      </p:sp>
      <p:sp>
        <p:nvSpPr>
          <p:cNvPr id="40" name="Shape 40"/>
          <p:cNvSpPr/>
          <p:nvPr/>
        </p:nvSpPr>
        <p:spPr>
          <a:xfrm>
            <a:off x="4056888" y="4441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4075175" y="4460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Software timer, daemon task</a:t>
            </a:r>
            <a:endParaRPr lang="en-US" sz="919"/>
          </a:p>
        </p:txBody>
      </p:sp>
      <p:sp>
        <p:nvSpPr>
          <p:cNvPr id="42" name="Shape 42"/>
          <p:cNvSpPr/>
          <p:nvPr/>
        </p:nvSpPr>
        <p:spPr>
          <a:xfrm>
            <a:off x="7729728" y="4441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43" name="TextBox 43"/>
          <p:cNvSpPr txBox="1"/>
          <p:nvPr/>
        </p:nvSpPr>
        <p:spPr>
          <a:xfrm>
            <a:off x="7748015" y="4460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Module 09</a:t>
            </a:r>
            <a:endParaRPr lang="en-US" sz="919"/>
          </a:p>
        </p:txBody>
      </p:sp>
      <p:sp>
        <p:nvSpPr>
          <p:cNvPr id="44" name="Shape 44"/>
          <p:cNvSpPr/>
          <p:nvPr/>
        </p:nvSpPr>
        <p:spPr>
          <a:xfrm>
            <a:off x="384048" y="4949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45" name="TextBox 45"/>
          <p:cNvSpPr txBox="1"/>
          <p:nvPr/>
        </p:nvSpPr>
        <p:spPr>
          <a:xfrm>
            <a:off x="402336" y="4968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Handle many conditions or lightweight signals</a:t>
            </a:r>
            <a:endParaRPr lang="en-US" sz="919"/>
          </a:p>
        </p:txBody>
      </p:sp>
      <p:sp>
        <p:nvSpPr>
          <p:cNvPr id="46" name="Shape 46"/>
          <p:cNvSpPr/>
          <p:nvPr/>
        </p:nvSpPr>
        <p:spPr>
          <a:xfrm>
            <a:off x="4056888" y="4949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47" name="TextBox 47"/>
          <p:cNvSpPr txBox="1"/>
          <p:nvPr/>
        </p:nvSpPr>
        <p:spPr>
          <a:xfrm>
            <a:off x="4075175" y="4968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Event group, task notification</a:t>
            </a:r>
            <a:endParaRPr lang="en-US" sz="919"/>
          </a:p>
        </p:txBody>
      </p:sp>
      <p:sp>
        <p:nvSpPr>
          <p:cNvPr id="48" name="Shape 48"/>
          <p:cNvSpPr/>
          <p:nvPr/>
        </p:nvSpPr>
        <p:spPr>
          <a:xfrm>
            <a:off x="7729728" y="4949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49" name="TextBox 49"/>
          <p:cNvSpPr txBox="1"/>
          <p:nvPr/>
        </p:nvSpPr>
        <p:spPr>
          <a:xfrm>
            <a:off x="7748015" y="4968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Module 12-13</a:t>
            </a:r>
            <a:endParaRPr lang="en-US" sz="919"/>
          </a:p>
        </p:txBody>
      </p:sp>
      <p:sp>
        <p:nvSpPr>
          <p:cNvPr id="50" name="Shape 50"/>
          <p:cNvSpPr/>
          <p:nvPr/>
        </p:nvSpPr>
        <p:spPr>
          <a:xfrm>
            <a:off x="384048" y="5457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402336" y="5476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Handle serial data and packets</a:t>
            </a:r>
            <a:endParaRPr lang="en-US" sz="919"/>
          </a:p>
        </p:txBody>
      </p:sp>
      <p:sp>
        <p:nvSpPr>
          <p:cNvPr id="52" name="Shape 52"/>
          <p:cNvSpPr/>
          <p:nvPr/>
        </p:nvSpPr>
        <p:spPr>
          <a:xfrm>
            <a:off x="4056888" y="5457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53" name="TextBox 53"/>
          <p:cNvSpPr txBox="1"/>
          <p:nvPr/>
        </p:nvSpPr>
        <p:spPr>
          <a:xfrm>
            <a:off x="4075175" y="5476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Stream buffer, message buffer</a:t>
            </a:r>
            <a:endParaRPr lang="en-US" sz="919"/>
          </a:p>
        </p:txBody>
      </p:sp>
      <p:sp>
        <p:nvSpPr>
          <p:cNvPr id="54" name="Shape 54"/>
          <p:cNvSpPr/>
          <p:nvPr/>
        </p:nvSpPr>
        <p:spPr>
          <a:xfrm>
            <a:off x="7729728" y="5457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55" name="TextBox 55"/>
          <p:cNvSpPr txBox="1"/>
          <p:nvPr/>
        </p:nvSpPr>
        <p:spPr>
          <a:xfrm>
            <a:off x="7748015" y="5476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Module 14</a:t>
            </a:r>
            <a:endParaRPr lang="en-US" sz="919"/>
          </a:p>
        </p:txBody>
      </p:sp>
      <p:sp>
        <p:nvSpPr>
          <p:cNvPr id="56" name="Shape 56"/>
          <p:cNvSpPr/>
          <p:nvPr/>
        </p:nvSpPr>
        <p:spPr>
          <a:xfrm>
            <a:off x="384048" y="5965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57" name="TextBox 57"/>
          <p:cNvSpPr txBox="1"/>
          <p:nvPr/>
        </p:nvSpPr>
        <p:spPr>
          <a:xfrm>
            <a:off x="402336" y="5984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Know why the firmware fails</a:t>
            </a:r>
            <a:endParaRPr lang="en-US" sz="919"/>
          </a:p>
        </p:txBody>
      </p:sp>
      <p:sp>
        <p:nvSpPr>
          <p:cNvPr id="58" name="Shape 58"/>
          <p:cNvSpPr/>
          <p:nvPr/>
        </p:nvSpPr>
        <p:spPr>
          <a:xfrm>
            <a:off x="4056888" y="5965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59" name="TextBox 59"/>
          <p:cNvSpPr txBox="1"/>
          <p:nvPr/>
        </p:nvSpPr>
        <p:spPr>
          <a:xfrm>
            <a:off x="4075175" y="5984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Stack, heap, runtime stats, trace</a:t>
            </a:r>
            <a:endParaRPr lang="en-US" sz="919"/>
          </a:p>
        </p:txBody>
      </p:sp>
      <p:sp>
        <p:nvSpPr>
          <p:cNvPr id="60" name="Shape 60"/>
          <p:cNvSpPr/>
          <p:nvPr/>
        </p:nvSpPr>
        <p:spPr>
          <a:xfrm>
            <a:off x="7729728" y="5965952"/>
            <a:ext cx="3672840" cy="508000"/>
          </a:xfrm>
          <a:prstGeom prst="rect">
            <a:avLst/>
          </a:prstGeom>
          <a:solidFill>
            <a:srgbClr val="FFFFFF"/>
          </a:solidFill>
          <a:ln w="6667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61" name="TextBox 61"/>
          <p:cNvSpPr txBox="1"/>
          <p:nvPr/>
        </p:nvSpPr>
        <p:spPr>
          <a:xfrm>
            <a:off x="7748015" y="5984240"/>
            <a:ext cx="3636264" cy="47142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19" dirty="0">
                <a:solidFill>
                  <a:srgbClr val="2B2F36"/>
                </a:solidFill>
              </a:rPr>
              <a:t>Module 05 and Module 15</a:t>
            </a:r>
            <a:endParaRPr lang="en-US" sz="919"/>
          </a:p>
        </p:txBody>
      </p:sp>
      <p:sp>
        <p:nvSpPr>
          <p:cNvPr id="62" name="TextBox 62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16 / 22</a:t>
            </a:r>
            <a:endParaRPr lang="en-US"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History and Stewardship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Why FreeRTOS is a production choice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FreeRTOS Value Proposition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FreeRTOS is widely used because the technical model is small, portable, commercially usable, and supported by a broad ecosystem.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5436108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0" name="richard_barry_arm_newsroom_320.jpeg"/>
          <p:cNvPicPr/>
          <p:nvPr/>
        </p:nvPicPr>
        <p:blipFill>
          <a:blip r:embed="rId2"/>
          <a:stretch>
            <a:fillRect/>
          </a:stretch>
        </p:blipFill>
        <p:spPr>
          <a:xfrm>
            <a:off x="521207" y="2130552"/>
            <a:ext cx="1371600" cy="1371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21207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Creator of FreeRTOS. The course treats FreeRTOS as both a small kernel and a long-lived embedded ecosystem.</a:t>
            </a:r>
            <a:endParaRPr lang="en-US" sz="1400"/>
          </a:p>
        </p:txBody>
      </p:sp>
      <p:sp>
        <p:nvSpPr>
          <p:cNvPr id="12" name="Shape 12"/>
          <p:cNvSpPr/>
          <p:nvPr/>
        </p:nvSpPr>
        <p:spPr>
          <a:xfrm>
            <a:off x="5966460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076188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Small</a:t>
            </a:r>
            <a:endParaRPr lang="en-US" sz="1400"/>
          </a:p>
        </p:txBody>
      </p:sp>
      <p:sp>
        <p:nvSpPr>
          <p:cNvPr id="15" name="TextBox 15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17 / 22</a:t>
            </a:r>
            <a:endParaRPr lang="en-US"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License and Family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FreeRTOS, OpenRTOS, SafeRTOS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FreeRTOS, OpenRTOS, and SafeRTOS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The course uses open-source FreeRTOS, but the family context matters for industry discussions.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3575304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3575304" cy="54864"/>
          </a:xfrm>
          <a:prstGeom prst="rect">
            <a:avLst/>
          </a:prstGeom>
          <a:solidFill>
            <a:srgbClr val="2F7D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3355848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FreeRTOS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MIT open-source license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Commercial application use allowed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Users retain their own intellectual property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Main target for this course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105656" y="1901952"/>
            <a:ext cx="3575304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105656" y="1901952"/>
            <a:ext cx="3575304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4215384" y="2048256"/>
            <a:ext cx="3355848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OpenRTOS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Commercially licensed version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Provided through a third party under license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Useful context for legal and procurement paths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Not the lab target here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7827264" y="1901952"/>
            <a:ext cx="3575304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7827264" y="1901952"/>
            <a:ext cx="3575304" cy="54864"/>
          </a:xfrm>
          <a:prstGeom prst="rect">
            <a:avLst/>
          </a:prstGeom>
          <a:solidFill>
            <a:srgbClr val="9A6A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936992" y="2048256"/>
            <a:ext cx="3355848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SafeRTOS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Related usage model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Developed for safety standard compliance claims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Relevant to safety-critical product domains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Not a shortcut to safety certification</a:t>
            </a:r>
            <a:endParaRPr lang="en-US" sz="1400"/>
          </a:p>
        </p:txBody>
      </p:sp>
      <p:sp>
        <p:nvSpPr>
          <p:cNvPr id="17" name="TextBox 17"/>
          <p:cNvSpPr txBox="1"/>
          <p:nvPr/>
        </p:nvSpPr>
        <p:spPr>
          <a:xfrm>
            <a:off x="384048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515A6B"/>
                </a:solidFill>
              </a:rPr>
              <a:t>The practical lesson: FreeRTOS learning maps into a larger commercial and safety-aware ecosystem.</a:t>
            </a:r>
            <a:endParaRPr lang="en-US" sz="1050"/>
          </a:p>
        </p:txBody>
      </p:sp>
      <p:sp>
        <p:nvSpPr>
          <p:cNvPr id="18" name="TextBox 18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18 / 22</a:t>
            </a:r>
            <a:endParaRPr lang="en-US" sz="10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Course Platform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NUCLEO-F439ZI baseline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Why NUCLEO-F439ZI for This Course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The board is not the subject of the course, but it gives the RTOS concepts a repeatable execution target.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5436108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Core lab value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Cortex-M4F at the right complexity level for FreeRTOS kernel concepts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On-board ST-LINK for flash and debug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User LEDs and user button for scheduling and ISR labs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Virtual COM Port for UART logs and timing observations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STM32CubeIDE and STM32CubeMX project generation path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966460" y="1901952"/>
            <a:ext cx="5436108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6D4AA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076188" y="2048256"/>
            <a:ext cx="5216652" cy="4361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Boundaries for this course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Use LED, button, UART, ST-LINK, SysTick, and FreeRTOS first.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Keep Ethernet, USB, LCD-TFT, DMA2D, and crypto as later extension topics.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Treat NUCLEO-F429ZI as a close board-family reference, not the main template.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Keep NUCLEO-H755ZI-Q for later TinyML or Edge AI work.</a:t>
            </a:r>
            <a:endParaRPr lang="en-US" sz="1400"/>
          </a:p>
        </p:txBody>
      </p:sp>
      <p:sp>
        <p:nvSpPr>
          <p:cNvPr id="14" name="TextBox 14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19 / 22</a:t>
            </a:r>
            <a:endParaRPr lang="en-US" sz="10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Project Boundary Check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Module 00 Self Lab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Project Boundary Check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This checkpoint is deliberately light. The goal is conceptual readiness before writing FreeRTOS code.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5436108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5436108" cy="54864"/>
          </a:xfrm>
          <a:prstGeom prst="rect">
            <a:avLst/>
          </a:prstGeom>
          <a:solidFill>
            <a:srgbClr val="2F7D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5216652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Board and environment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Open STM32CubeIDE and confirm the NUCLEO-F439ZI board or STM32F439ZI MCU path.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List five board features visible in the ST board description.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Mark which features are needed for core FreeRTOS labs.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Mark which features should stay as future extension topics.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966460" y="1901952"/>
            <a:ext cx="5436108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966460" y="1901952"/>
            <a:ext cx="5436108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076188" y="2048256"/>
            <a:ext cx="5216652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RTOS decision sketch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Invent a small firmware scenario with at least four activities.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Classify each activity as periodic, event-driven, continuous, or background.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Identify one timing risk in a super loop version.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Choose which activity would deserve the highest task priority and explain why.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384048" y="5650992"/>
            <a:ext cx="11018520" cy="822959"/>
          </a:xfrm>
          <a:prstGeom prst="roundRect">
            <a:avLst/>
          </a:prstGeom>
          <a:solidFill>
            <a:srgbClr val="EEF5FC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384048" y="5650992"/>
            <a:ext cx="11018520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93776" y="5797296"/>
            <a:ext cx="10799064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Checkpoint output: a one-page note with workload categories, one timing risk, and a first task-priority hypothesis.</a:t>
            </a:r>
            <a:endParaRPr lang="en-US" sz="1200"/>
          </a:p>
        </p:txBody>
      </p:sp>
      <p:sp>
        <p:nvSpPr>
          <p:cNvPr id="17" name="TextBox 17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20 / 22</a:t>
            </a:r>
            <a:endParaRPr lang="en-US" sz="10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Bridge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Next module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Bridge to Module 01</a:t>
            </a:r>
            <a:endParaRPr lang="en-US" sz="2400"/>
          </a:p>
        </p:txBody>
      </p:sp>
      <p:sp>
        <p:nvSpPr>
          <p:cNvPr id="7" name="TextBox 7"/>
          <p:cNvSpPr txBox="1"/>
          <p:nvPr/>
        </p:nvSpPr>
        <p:spPr>
          <a:xfrm>
            <a:off x="384048" y="1298448"/>
            <a:ext cx="10607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50" dirty="0">
                <a:solidFill>
                  <a:srgbClr val="4A5260"/>
                </a:solidFill>
              </a:rPr>
              <a:t>Module 00 defines the language. Module 01 opens the firmware and shows where the language appears in files.</a:t>
            </a:r>
            <a:endParaRPr lang="en-US" sz="1350"/>
          </a:p>
        </p:txBody>
      </p:sp>
      <p:sp>
        <p:nvSpPr>
          <p:cNvPr id="8" name="Shape 8"/>
          <p:cNvSpPr/>
          <p:nvPr/>
        </p:nvSpPr>
        <p:spPr>
          <a:xfrm>
            <a:off x="384048" y="1901952"/>
            <a:ext cx="3575304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384048" y="1901952"/>
            <a:ext cx="3575304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93776" y="2048256"/>
            <a:ext cx="3355848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From concept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Task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Scheduler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Kernel object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Configuration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105656" y="1901952"/>
            <a:ext cx="3575304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4105656" y="1901952"/>
            <a:ext cx="3575304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4215384" y="2048256"/>
            <a:ext cx="3355848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To source boundary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main.c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FreeRTOSConfig.h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Kernel source files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Portable layer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7827264" y="1901952"/>
            <a:ext cx="3575304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7827264" y="1901952"/>
            <a:ext cx="3575304" cy="54864"/>
          </a:xfrm>
          <a:prstGeom prst="rect">
            <a:avLst/>
          </a:prstGeom>
          <a:solidFill>
            <a:srgbClr val="2F7D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936992" y="2048256"/>
            <a:ext cx="3355848" cy="33558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To STM32 lab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CubeMX-generated project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HAL and BSP boundary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ST-LINK debug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UART observation path</a:t>
            </a: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384048" y="5650992"/>
            <a:ext cx="11018520" cy="822959"/>
          </a:xfrm>
          <a:prstGeom prst="roundRect">
            <a:avLst/>
          </a:prstGeom>
          <a:solidFill>
            <a:srgbClr val="EDF8F8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384048" y="5650992"/>
            <a:ext cx="11018520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493776" y="5797296"/>
            <a:ext cx="10799064" cy="61264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dirty="0">
                <a:solidFill>
                  <a:srgbClr val="2B2F36"/>
                </a:solidFill>
              </a:rPr>
              <a:t>After Module 00, Module 01 should spend less time justifying RTOS use and more time reading the concrete project structure.</a:t>
            </a:r>
            <a:endParaRPr lang="en-US" sz="1200"/>
          </a:p>
        </p:txBody>
      </p:sp>
      <p:sp>
        <p:nvSpPr>
          <p:cNvPr id="20" name="TextBox 20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21 / 22</a:t>
            </a:r>
            <a:endParaRPr lang="en-US" sz="10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999" cy="512064"/>
          </a:xfrm>
          <a:prstGeom prst="rect">
            <a:avLst/>
          </a:prstGeom>
          <a:solidFill>
            <a:srgbClr val="2E315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301752" y="10058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500" dirty="0" b="1">
                <a:solidFill>
                  <a:srgbClr val="FFFFFF"/>
                </a:solidFill>
              </a:rPr>
              <a:t>References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7406640" y="10972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dirty="0">
                <a:solidFill>
                  <a:srgbClr val="E1E6FF"/>
                </a:solidFill>
              </a:rPr>
              <a:t>Sources and further reading</a:t>
            </a:r>
            <a:endParaRPr lang="en-US" sz="1300"/>
          </a:p>
        </p:txBody>
      </p:sp>
      <p:sp>
        <p:nvSpPr>
          <p:cNvPr id="6" name="TextBox 6"/>
          <p:cNvSpPr txBox="1"/>
          <p:nvPr/>
        </p:nvSpPr>
        <p:spPr>
          <a:xfrm>
            <a:off x="384048" y="8046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2400" dirty="0" b="1">
                <a:solidFill>
                  <a:srgbClr val="20243D"/>
                </a:solidFill>
              </a:rPr>
              <a:t>References and Further Reading</a:t>
            </a:r>
            <a:endParaRPr lang="en-US" sz="2400"/>
          </a:p>
        </p:txBody>
      </p:sp>
      <p:sp>
        <p:nvSpPr>
          <p:cNvPr id="7" name="Shape 7"/>
          <p:cNvSpPr/>
          <p:nvPr/>
        </p:nvSpPr>
        <p:spPr>
          <a:xfrm>
            <a:off x="384048" y="1417320"/>
            <a:ext cx="5436108" cy="5074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384048" y="1417320"/>
            <a:ext cx="5436108" cy="54864"/>
          </a:xfrm>
          <a:prstGeom prst="rect">
            <a:avLst/>
          </a:prstGeom>
          <a:solidFill>
            <a:srgbClr val="2563A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493776" y="1563624"/>
            <a:ext cx="5216652" cy="486460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References Used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FreeRTOS, RTOS Fundamentals, Beginner's Guide.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FreeRTOS, About FreeRTOS and Why FreeRTOS.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 homepage, current project positioning and ecosystem notes.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AWS FreeRTOS User Guide, What is FreeRTOS?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AWS FreeRTOS User Guide, FreeRTOS kernel fundamentals.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 Kernel Book, Chapter 1, Preface 1.1.1-1.1.6.</a:t>
            </a:r>
            <a:endParaRPr lang="en-US" sz="1400"/>
          </a:p>
        </p:txBody>
      </p:sp>
      <p:sp>
        <p:nvSpPr>
          <p:cNvPr id="10" name="Shape 10"/>
          <p:cNvSpPr/>
          <p:nvPr/>
        </p:nvSpPr>
        <p:spPr>
          <a:xfrm>
            <a:off x="5966460" y="1417320"/>
            <a:ext cx="5436108" cy="5074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5966460" y="1417320"/>
            <a:ext cx="5436108" cy="5486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6076188" y="1563624"/>
            <a:ext cx="5216652" cy="4864607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dirty="0">
                <a:solidFill>
                  <a:srgbClr val="2B2F36"/>
                </a:solidFill>
              </a:rPr>
              <a:t>Further Reading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 Kernel Book, Chapter 2, Source Organization.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 Kernel Book, Chapter 4, Task Management.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FreeRTOS API Reference, Task Control APIs.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NUCLEO-F439ZI board documentation and STM32CubeIDE documentation.</a:t>
            </a:r>
            <a:endParaRPr lang="en-US" sz="1400"/>
          </a:p>
          <a:p>
            <a:pPr>
              <a:buChar char="•"/>
              <a:marL val="285750"/>
              <a:indent val="-171450"/>
            </a:pPr>
            <a:r>
              <a:rPr lang="en-US" sz="1400" dirty="0">
                <a:solidFill>
                  <a:srgbClr val="2B2F36"/>
                </a:solidFill>
              </a:rPr>
              <a:t>Course notes: STM32F439ZI lab environment and previous uC/OS-III material conversion memo.</a:t>
            </a:r>
            <a:endParaRPr lang="en-US" sz="1400"/>
          </a:p>
        </p:txBody>
      </p:sp>
      <p:sp>
        <p:nvSpPr>
          <p:cNvPr id="13" name="TextBox 13"/>
          <p:cNvSpPr txBox="1"/>
          <p:nvPr/>
        </p:nvSpPr>
        <p:spPr>
          <a:xfrm>
            <a:off x="10789920" y="63276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50" dirty="0" b="1">
                <a:solidFill>
                  <a:srgbClr val="7A8290"/>
                </a:solidFill>
              </a:rPr>
              <a:t>22 / 22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RTOS Editable">
  <a:themeElements>
    <a:clrScheme name="FreeRTOS">
      <a:dk1>
        <a:srgbClr val="2B2F36"/>
      </a:dk1>
      <a:lt1>
        <a:srgbClr val="FFFFFF"/>
      </a:lt1>
      <a:dk2>
        <a:srgbClr val="2E315B"/>
      </a:dk2>
      <a:lt2>
        <a:srgbClr val="F4F6F9"/>
      </a:lt2>
      <a:accent1>
        <a:srgbClr val="2563A6"/>
      </a:accent1>
      <a:accent2>
        <a:srgbClr val="147D83"/>
      </a:accent2>
      <a:accent3>
        <a:srgbClr val="2F7D4E"/>
      </a:accent3>
      <a:accent4>
        <a:srgbClr val="9A6A16"/>
      </a:accent4>
      <a:accent5>
        <a:srgbClr val="6D4AA2"/>
      </a:accent5>
      <a:accent6>
        <a:srgbClr val="637083"/>
      </a:accent6>
      <a:hlink>
        <a:srgbClr val="2563A6"/>
      </a:hlink>
      <a:folHlink>
        <a:srgbClr val="6D4AA2"/>
      </a:folHlink>
    </a:clrScheme>
    <a:fontScheme name="System">
      <a:majorFont>
        <a:latin typeface="Aptos Display"/>
      </a:majorFont>
      <a:minorFont>
        <a:latin typeface="Aptos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FreeRTOS Module 00 Editable Deck</dc:title>
  <dc:creator>Codex</dc:creator>
  <cp:lastModifiedBy>Codex</cp:lastModifiedBy>
  <dcterms:created xsi:type="dcterms:W3CDTF">2026-05-06T00:00:00Z</dcterms:created>
  <dcterms:modified xsi:type="dcterms:W3CDTF">2026-05-06T00:00:00Z</dcterms:modified>
</cp:coreProperties>
</file>